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C0580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1-48C1-B285-6F8C6082DA68}"/>
              </c:ext>
            </c:extLst>
          </c:dPt>
          <c:dPt>
            <c:idx val="1"/>
            <c:invertIfNegative val="0"/>
            <c:bubble3D val="0"/>
            <c:spPr>
              <a:solidFill>
                <a:srgbClr val="0055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41-48C1-B285-6F8C6082DA6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96.7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60416666666665"/>
                      <c:h val="8.224826388888889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BC41-48C1-B285-6F8C6082DA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97.8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C41-48C1-B285-6F8C6082DA6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Model</c:v>
                </c:pt>
                <c:pt idx="1">
                  <c:v>Hybrid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96.7</c:v>
                </c:pt>
                <c:pt idx="1">
                  <c:v>97.8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41-48C1-B285-6F8C6082DA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Response Time Comparison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(s)</c:v>
                </c:pt>
              </c:strCache>
            </c:strRef>
          </c:tx>
          <c:spPr>
            <a:solidFill>
              <a:srgbClr val="8B22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43-4132-8954-5C8909F0782F}"/>
              </c:ext>
            </c:extLst>
          </c:dPt>
          <c:dPt>
            <c:idx val="1"/>
            <c:invertIfNegative val="0"/>
            <c:bubble3D val="0"/>
            <c:spPr>
              <a:solidFill>
                <a:srgbClr val="1A6E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43-4132-8954-5C8909F078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Model</c:v>
                </c:pt>
                <c:pt idx="1">
                  <c:v>Hybrid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43-4132-8954-5C8909F078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71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Hybrid Intent-Based Customer Support Chatbot. Mention the team members and supervising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manual customer support is expensive and doesn't scale. Chatbots solve this but accurate intent recognition is the main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addresses the gap between purely similarity-based approaches (slow at scale) and purely ML-based approaches (may miss best response).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sourced from GitHub. Three key columns used. Five intent categories. Preprocessing includes stopword removal and TF-IDF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has 6 stages. Both baseline and hybrid models share the same preprocessing and vectorization. The hybrid model adds a machine learning classifier to speed up and improve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difference: hybrid model uses ML to narrow down the relevant intent first, then applies cosine similarity only on the filtered subset — making it both faster and more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used are open-source Python libraries. Scikit-learn handles the core ML pipeline. Pandas/NumPy handle data. Matplotlib/Seaborn produce the result visualizations.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model achieves 97.8% accuracy vs 96.7% baseline (1.1% gain) and reduces response time from 12 to 9 seconds (25% improvement). Both improvements are significant for real-time customer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matrix confirms the hybrid model correctly classifies most queries (diagonal elements). Off-diagonal misclassifications are minimal. The key advantage of the hybrid model is the two-stage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key takeaway: the hybrid approach delivers superior accuracy and speed. Future work focuses on deep learning models, multi-turn dialogue, and multilingual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slide. Invite the audience for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801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8946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22813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718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0392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  <a:endParaRPr lang="en-GB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090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45961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837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0701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2203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05628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67478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64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lvl="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343080" lvl="1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343080" lvl="2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343080" lvl="3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343080" lvl="4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995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1097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Industry Oriented Hands on Experience (22CS422)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Intent-Based Customer Support Chatbot Using Machine Learning and TF-IDF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Gurpreet Singh (2210990347)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Harsh Dhiman  (2210990378)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Gurinder Singh (2210990337)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Gurpreet Singh (Associate Professor)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5303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6957" y="1216152"/>
            <a:ext cx="84124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/>
              <a:t>Customer support is essential for providing fast and accurate responses to users. Traditional support systems rely on human agents, which become inefficient when query volume increases</a:t>
            </a: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/>
              <a:t>With advancements in Artificial Intelligence (AI) and Natural Language Processing (NLP), chatbots are widely used to automate customer support and improve response efficiency.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/>
              <a:t>However, traditional rule-based chatbots often fail to understand user intent accurately. To solve this issue, this research proposes a hybrid chatbot model using TF-IDF, Cosine Similarity, and Machine Learning for better intent classification and response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05840"/>
            <a:ext cx="4023360" cy="5029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05840"/>
            <a:ext cx="4023360" cy="5029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1463040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chatbot systems struggle to accurately recognise user intent.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Purely cosine similarity-based models do not scale well with large datasets — response time increases.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ML classifiers may miss the most relevant response in a predicted category.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comparative work on hybrid vs. similarity-only pipelines.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baseline intent detection model using TF-IDF and cosine similarity.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hybrid model combining TF-IDF, cosine similarity, and an SGD classifier.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both models on a public customer support dataset.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accuracy and response time to demonstrate the hybrid model's advantages.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Customer Support Dataset (GitHub — Bitext)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13898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Column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instruction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query text (input feature)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Intent label (classification target)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Corresponding chatbot response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Intent Categories Covered: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5760" y="3337560"/>
            <a:ext cx="274320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A0B4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3337560"/>
            <a:ext cx="73152" cy="5029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 Queries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91840" y="3337560"/>
            <a:ext cx="274320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A0B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3337560"/>
            <a:ext cx="73152" cy="5029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Issues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3337560"/>
            <a:ext cx="274320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A0B4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3337560"/>
            <a:ext cx="73152" cy="5029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Support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5760" y="3995928"/>
            <a:ext cx="274320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A0B4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3995928"/>
            <a:ext cx="73152" cy="5029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9959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Information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91840" y="3995928"/>
            <a:ext cx="274320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A0B4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91840" y="3995928"/>
            <a:ext cx="73152" cy="5029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29000" y="39959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Queries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" y="5257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Missing values removed • Relevant columns selected • TF-IDF vectorization applied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Methodology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960120"/>
            <a:ext cx="6400800" cy="5943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960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0" cy="15544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709928"/>
            <a:ext cx="6400800" cy="594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70992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Preprocessing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(Stopwords, Tokenize)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304288"/>
            <a:ext cx="0" cy="15544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459736"/>
            <a:ext cx="6400800" cy="59436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45973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Vectorization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054096"/>
            <a:ext cx="0" cy="15544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209544"/>
            <a:ext cx="6400800" cy="594360"/>
          </a:xfrm>
          <a:prstGeom prst="rect">
            <a:avLst/>
          </a:prstGeom>
          <a:solidFill>
            <a:srgbClr val="C0580C"/>
          </a:solidFill>
          <a:ln w="12700">
            <a:solidFill>
              <a:srgbClr val="C0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20954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+ Cosine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3803904"/>
            <a:ext cx="0" cy="15544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959352"/>
            <a:ext cx="640080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9593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+ SGD + Cosine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4553712"/>
            <a:ext cx="0" cy="15544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709160"/>
            <a:ext cx="64008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709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Intent Prediction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Response Retrieval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 vs. Hybrid Model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960120"/>
            <a:ext cx="4023360" cy="5120640"/>
          </a:xfrm>
          <a:prstGeom prst="rect">
            <a:avLst/>
          </a:prstGeom>
          <a:solidFill>
            <a:srgbClr val="FFF5F0"/>
          </a:solidFill>
          <a:ln w="9525">
            <a:solidFill>
              <a:srgbClr val="FFC4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60120"/>
            <a:ext cx="4023360" cy="5120640"/>
          </a:xfrm>
          <a:prstGeom prst="rect">
            <a:avLst/>
          </a:prstGeom>
          <a:solidFill>
            <a:srgbClr val="F0F8FF"/>
          </a:solidFill>
          <a:ln w="9525">
            <a:solidFill>
              <a:srgbClr val="A0C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C4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4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+ Cosine Similarity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1719072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vectors generated for all training queries.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Cosine similarity computed between test query and all training queries.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similar query selected; its intent used as prediction.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to implement but slow at scale — compares with entire dataset.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Accuracy: 96.7%  |  Response Time: ~12 sec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Model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5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+ SGD Classifier + Cosine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19072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vectors used to train an SGD Classifier.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 directly predicts the intent category for each test query.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filtered to matching intent; cosine similarity applied on filtered subset.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Significantly reduces search space — faster and more accurate.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Accuracy: 97.8%  |  Response Time: ~9 sec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960120"/>
            <a:ext cx="8595360" cy="667512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60120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96012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96012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8595360" cy="667512"/>
          </a:xfrm>
          <a:prstGeom prst="rect">
            <a:avLst/>
          </a:prstGeom>
          <a:solidFill>
            <a:srgbClr val="FFFA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19072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719072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/ NLP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1719072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(</a:t>
            </a:r>
            <a:r>
              <a:rPr lang="en-US" sz="1300" dirty="0" err="1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</a:t>
            </a: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-IDF Vectorizer, SGD Classifier, cosine_similarity, accuracy_score, confusion_matrix)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478024"/>
            <a:ext cx="8595360" cy="667512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78024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78024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40280" y="2478024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(data loading, preprocessing), NumPy (numerical operations)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8595360" cy="667512"/>
          </a:xfrm>
          <a:prstGeom prst="rect">
            <a:avLst/>
          </a:prstGeom>
          <a:solidFill>
            <a:srgbClr val="FFFA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36976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236976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40280" y="3236976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Matplotlib, Seaborn (bar charts, line plots, confusion matrix heatmaps)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995928"/>
            <a:ext cx="8595360" cy="667512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995928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995928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 Environment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40280" y="3995928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Jupyter Notebook / Google Colab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754880"/>
            <a:ext cx="8595360" cy="667512"/>
          </a:xfrm>
          <a:prstGeom prst="rect">
            <a:avLst/>
          </a:prstGeom>
          <a:solidFill>
            <a:srgbClr val="FFFA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754880"/>
            <a:ext cx="73152" cy="66751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75488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40280" y="475488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— Bitext Customer Support LLM Chatbot Training Dataset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Accuracy &amp; Response Time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295557797"/>
              </p:ext>
            </p:extLst>
          </p:nvPr>
        </p:nvGraphicFramePr>
        <p:xfrm>
          <a:off x="274320" y="91440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4663440" y="91440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77640"/>
          <a:ext cx="8595360" cy="11521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 Time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96.7%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~12 sec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Hybrid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97.8%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~9 sec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+1.1% / 25% faster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&amp; Discussion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 from the Experiment: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45720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model outperforms baseline in both accuracy (97.8% vs 96.7%) and response time (~9 s vs ~12 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Two-stage pipeline (classify → retrieve) reduces the cosine similarity search space significantly.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combined approach is practical, scalable, and suitable for real-time deployment.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Applicable to e-commerce, banking, and technical support domains.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91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Hybrid Intent-Based Customer Support Chatbot was proposed, implemented, and evaluated.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hybrid model (TF-IDF + SGD + Cosine) outperforms the baseline (TF-IDF + Cosine) in both accuracy (97.8% vs 96.7%) and response time (~9 s vs ~12 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Combining statistical text representation with ML classification significantly enhances chatbot performance.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scalable and practical for deployment in e-commerce, banking, and technical support.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397764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transformer-based models (BERT, RoBERTa, GPT) for improved conversational understanding.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to multi-turn dialogue systems that maintain contextual memory across conversation turns.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multilingual capabilities to handle non-English queries.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on larger, domain-specific datasets for improved robustness.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in a live customer service environment for real-world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77240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IOHE_External_PPT</Template>
  <TotalTime>21</TotalTime>
  <Words>1144</Words>
  <Application>Microsoft Office PowerPoint</Application>
  <PresentationFormat>On-screen Show (4:3)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Intent-Based Customer Support Chatbot</dc:title>
  <dc:subject>PptxGenJS Presentation</dc:subject>
  <dc:creator>Gurpreet Singh, Harsh Dhiman, Gurinder Singh</dc:creator>
  <cp:lastModifiedBy>Gurpreet Singh</cp:lastModifiedBy>
  <cp:revision>3</cp:revision>
  <dcterms:created xsi:type="dcterms:W3CDTF">2026-05-08T08:22:17Z</dcterms:created>
  <dcterms:modified xsi:type="dcterms:W3CDTF">2026-05-11T09:45:23Z</dcterms:modified>
</cp:coreProperties>
</file>